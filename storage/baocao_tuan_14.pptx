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Default Extension="gif" ContentType="image/gif"/>
  <Default Extension="jpg" ContentType="image/jpeg"/>
  <Default Extension="jpeg" ContentType="image/jpeg"/>
  <Default Extension="png" ContentType="image/png"/>
  <Default Extension="xlsx" ContentType="application/vnd.openxmlformats-officedocument.spreadsheetml.sheet"/>
  <Override PartName="/ppt/charts/chart3.xml" ContentType="application/vnd.openxmlformats-officedocument.drawingml.chart+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9144000" cy="5143500" type="screen16x9"/>
  <p:notesSz cx="6858000" cy="9144000"/>
  <p:defaultTextStyle>
    <a:defPPr>
      <a:defRPr lang="fr-F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lastView="sldView">
  <p:slideViewPr>
    <p:cSldViewPr>
      <p:cViewPr>
        <p:scale>
          <a:sx d="100" n="100"/>
          <a:sy d="100" n="100"/>
        </p:scale>
        <p:origin x="0" y="0"/>
      </p:cViewPr>
    </p:cSldViewPr>
  </p:slide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theme" Target="theme/theme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presProps" Target="presProps.xml"/>
  <Relationship Id="rId7" Type="http://schemas.openxmlformats.org/officeDocument/2006/relationships/viewProps" Target="viewProps.xml"/>
  <Relationship Id="rId8" Type="http://schemas.openxmlformats.org/officeDocument/2006/relationships/tableStyles" Target="tableStyles.xml"/>
</Relationships>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lgn="l" fontAlgn="base" marL="0" marR="0" indent="0" lvl="0">
              <a:defRPr/>
            </a:pPr>
            <a:r>
              <a:rPr lang="en-US" dirty="0" b="false" i="false" strike="noStrike" sz="1800" u="none">
                <a:solidFill>
                  <a:srgbClr val="000000">
                    <a:alpha val="100000"/>
                  </a:srgbClr>
                </a:solidFill>
                <a:latin typeface="Calibri"/>
              </a:rPr>
              <a:t>Biểu đồ tỷ lệ lỗi theo tuần</a:t>
            </a:r>
            <a:endParaRPr lang="en-US" dirty="0"/>
          </a:p>
        </c:rich>
      </c:tx>
      <c:layout>
        <c:manualLayout>
          <c:xMode val="edge"/>
          <c:yMode val="edge"/>
          <c:x val="0.01"/>
          <c:y val="0.01"/>
        </c:manualLayout>
      </c:layout>
      <c:overlay val="0"/>
    </c:title>
    <c:autoTitleDeleted val="0"/>
    <c:view3D>
      <c:rotX val="20"/>
      <c:hPercent val="100"/>
      <c:rotY val="0"/>
      <c:depthPercent val="100"/>
      <c:rAngAx val="1"/>
      <c:perspective val="30"/>
    </c:view3D>
    <c:plotArea>
      <c:layout>
        <c:manualLayout>
          <c:xMode val="edge"/>
          <c:yMode val="edge"/>
        </c:manualLayout>
      </c:layout>
      <c:pie3DChart>
        <c:varyColors val="1"/>
        <c:ser>
          <c:idx val="0"/>
          <c:order val="0"/>
          <c:tx>
            <c:v>Tỷ lệ lỗi</c:v>
          </c:tx>
          <c:explosion val="0"/>
          <c:dLbls>
            <c:txPr>
              <a:bodyPr/>
              <a:lstStyle/>
              <a:p>
                <a:pPr>
                  <a:defRPr b="false" i="false" strike="noStrike" sz="900" u="none">
                    <a:solidFill>
                      <a:srgbClr val="000000">
                        <a:alpha val="100000"/>
                      </a:srgbClr>
                    </a:solidFill>
                    <a:latin typeface="Calibri"/>
                  </a:defRPr>
                </a:pPr>
                <a:endParaRPr lang="en-US" dirty="0"/>
              </a:p>
            </c:txPr>
            <c:dLblPos val="ctr"/>
            <c:showVal val="1"/>
            <c:showCatName val="0"/>
            <c:showSerName val="0"/>
            <c:showPercent val="0"/>
            <c:showLeaderLines val="1"/>
          </c:dLbls>
          <c:cat>
            <c:numLit>
              <c:ptCount val="3"/>
              <c:pt idx="0">
                <c:v>0</c:v>
              </c:pt>
              <c:pt idx="1">
                <c:v>1</c:v>
              </c:pt>
              <c:pt idx="2">
                <c:v>2</c:v>
              </c:pt>
            </c:numLit>
          </c:cat>
          <c:val>
            <c:numLit>
              <c:ptCount val="3"/>
              <c:pt idx="0">
                <c:v>50</c:v>
              </c:pt>
              <c:pt idx="1">
                <c:v>30</c:v>
              </c:pt>
              <c:pt idx="2">
                <c:v>20</c:v>
              </c:pt>
            </c:numLit>
          </c:val>
        </c:ser>
      </c:pie3DChart>
    </c:plotArea>
    <c:legend>
      <c:legendPos val="r"/>
      <c:layout>
        <c:manualLayout>
          <c:xMode val="edge"/>
          <c:yMode val="edge"/>
        </c:manualLayout>
      </c:layout>
      <c:overlay val="0"/>
      <c:spPr>
        <a:noFill/>
        <a:ln w="12700" cap="flat" cmpd="sng" algn="ctr">
          <a:solidFill>
            <a:srgbClr val="000000">
              <a:alpha val="100000"/>
            </a:srgbClr>
          </a:solidFill>
          <a:prstDash val="solid"/>
          <a:round/>
          <a:headEnd type="none" w="med" len="med"/>
          <a:tailEnd type="none" w="med" len="med"/>
        </a:ln>
      </c:spPr>
      <c:txPr>
        <a:bodyPr/>
        <a:lstStyle/>
        <a:p>
          <a:pPr algn="l" fontAlgn="base" marL="0" marR="0" indent="0" lvl="0">
            <a:defRPr b="true" i="false" strike="noStrike" sz="1000" u="none">
              <a:solidFill>
                <a:srgbClr val="000000">
                  <a:alpha val="100000"/>
                </a:srgbClr>
              </a:solidFill>
              <a:latin typeface="Calibri"/>
            </a:defRPr>
          </a:pPr>
          <a:endParaRPr lang="en-US" dirty="0"/>
        </a:p>
      </c:txPr>
    </c:legend>
    <c:plotVisOnly val="1"/>
    <c:dispBlanksAs val="zero"/>
  </c:chart>
  <c:spPr>
    <a:noFill/>
  </c:spPr>
</c:chartSpace>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409884504" r:id="rId1"/>
  </p:sldLayoutIdLst>
  <p:txStyles>
    <p:titleStyle>
      <a:lvl1pPr algn="ctr">
        <a:defRPr sz="4400" kern="1200">
          <a:solidFill>
            <a:schemeClr val="lt1"/>
          </a:solidFill>
        </a:defRPr>
      </a:lvl1pPr>
      <a:extLst/>
    </p:titleStyle>
    <p:bodyStyle>
      <a:lvl1pPr algn="ctr" indent="-324900">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logo1.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chart" Target="../charts/char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1238250" y="476250"/>
          <a:ext cx="7905750" cy="2667000"/>
          <a:chOff x="1238250" y="476250"/>
          <a:chExt cx="7905750" cy="2667000"/>
        </a:xfrm>
      </p:grpSpPr>
      <p:pic>
        <p:nvPicPr>
          <p:cNvPr id="1" name="Unique name" descr="Description of the drawing"/>
          <p:cNvPicPr>
            <a:picLocks noChangeAspect="1"/>
          </p:cNvPicPr>
          <p:nvPr/>
        </p:nvPicPr>
        <p:blipFill>
          <a:blip r:embed="rId2"/>
          <a:stretch>
            <a:fillRect/>
          </a:stretch>
        </p:blipFill>
        <p:spPr>
          <a:xfrm>
            <a:off x="3714750" y="476250"/>
            <a:ext cx="1714500" cy="904875"/>
          </a:xfrm>
          <a:prstGeom prst="rect">
            <a:avLst/>
          </a:prstGeom>
          <a:noFill/>
        </p:spPr>
      </p:pic>
      <p:sp>
        <p:nvSpPr>
          <p:cNvPr id="2" name=""/>
          <p:cNvSpPr txBox="1"/>
          <p:nvPr/>
        </p:nvSpPr>
        <p:spPr>
          <a:xfrm>
            <a:off x="1238250" y="1905000"/>
            <a:ext cx="6667500" cy="381000"/>
          </a:xfrm>
          <a:prstGeom prst="rect">
            <a:avLst/>
          </a:prstGeom>
          <a:noFill/>
        </p:spPr>
        <p:txBody>
          <a:bodyPr rtlCol="0" bIns="45720" lIns="91440" rIns="91440" tIns="45720">
            <a:spAutoFit/>
          </a:bodyPr>
          <a:lstStyle/>
          <a:p>
            <a:pPr algn="ctr" rtl="0" fontAlgn="base" marL="0" marR="0" indent="0" lvl="0">
              <a:lnSpc>
                <a:spcPct val="100000"/>
              </a:lnSpc>
              <a:spcBef>
                <a:spcPts val="0"/>
              </a:spcBef>
              <a:spcAft>
                <a:spcPts val="0"/>
              </a:spcAft>
            </a:pPr>
            <a:r>
              <a:rPr lang="en-US" b="1" sz="1800" spc="0" u="none">
                <a:solidFill>
                  <a:srgbClr val="0000FF">
                    <a:alpha val="100000"/>
                  </a:srgbClr>
                </a:solidFill>
                <a:latin typeface="Times New Roman"/>
              </a:rPr>
              <a:t><![CDATA[BÁO CÁO TUẦN 14 HỆ THỐNG NHÀ MÁY THÔNG MINH]]></a:t>
            </a:r>
          </a:p>
        </p:txBody>
      </p:sp>
      <p:sp>
        <p:nvSpPr>
          <p:cNvPr id="3" name=""/>
          <p:cNvSpPr txBox="1"/>
          <p:nvPr/>
        </p:nvSpPr>
        <p:spPr>
          <a:xfrm>
            <a:off x="3143250" y="2381250"/>
            <a:ext cx="2857500" cy="285750"/>
          </a:xfrm>
          <a:prstGeom prst="rect">
            <a:avLst/>
          </a:prstGeom>
          <a:noFill/>
        </p:spPr>
        <p:txBody>
          <a:bodyPr rtlCol="0" bIns="45720" lIns="91440" rIns="91440" tIns="45720">
            <a:spAutoFit/>
          </a:bodyPr>
          <a:lstStyle/>
          <a:p>
            <a:pPr algn="ctr" rtl="0" fontAlgn="base" marL="0" marR="0" indent="0" lvl="0">
              <a:lnSpc>
                <a:spcPct val="100000"/>
              </a:lnSpc>
              <a:spcBef>
                <a:spcPts val="0"/>
              </a:spcBef>
              <a:spcAft>
                <a:spcPts val="0"/>
              </a:spcAft>
            </a:pPr>
            <a:r>
              <a:rPr lang="en-US" b="1" sz="1400" spc="0" u="none">
                <a:solidFill>
                  <a:srgbClr val="000000">
                    <a:alpha val="100000"/>
                  </a:srgbClr>
                </a:solidFill>
                <a:latin typeface="Times New Roman"/>
              </a:rPr>
              <a:t><![CDATA[29.03.2024-04.04.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6191250"/>
          <a:chOff x="0" y="0"/>
          <a:chExt cx="9144000" cy="6191250"/>
        </a:xfrm>
      </p:grpSpPr>
      <p:sp>
        <p:nvSpPr>
          <p:cNvPr id="1" name=""/>
          <p:cNvSpPr txBox="1"/>
          <p:nvPr/>
        </p:nvSpPr>
        <p:spPr>
          <a:xfrm>
            <a:off x="0" y="0"/>
            <a:ext cx="9144000" cy="381000"/>
          </a:xfrm>
          <a:prstGeom prst="rect">
            <a:avLst/>
          </a:prstGeom>
          <a:noFill/>
        </p:spPr>
        <p:txBody>
          <a:bodyPr rtlCol="0" bIns="45720" lIns="91440" rIns="91440" tIns="45720">
            <a:spAutoFit/>
          </a:bodyPr>
          <a:lstStyle/>
          <a:p>
            <a:pPr algn="just" rtl="0" fontAlgn="base" marL="0" marR="0" indent="0" lvl="0">
              <a:lnSpc>
                <a:spcPct val="100000"/>
              </a:lnSpc>
              <a:spcBef>
                <a:spcPts val="0"/>
              </a:spcBef>
              <a:spcAft>
                <a:spcPts val="0"/>
              </a:spcAft>
            </a:pPr>
            <a:r>
              <a:rPr lang="en-US" b="1" sz="2200" spc="0" u="none">
                <a:solidFill>
                  <a:srgbClr val="000000">
                    <a:alpha val="100000"/>
                  </a:srgbClr>
                </a:solidFill>
                <a:latin typeface="Times New Roman"/>
              </a:rPr>
              <a:t><![CDATA[I. TỔNG QUAN CHẤT LƯỢNG TUẦN 14]]></a:t>
            </a:r>
          </a:p>
        </p:txBody>
      </p:sp>
      <p:graphicFrame>
        <p:nvGraphicFramePr>
          <p:cNvPr id="2" name="" descr=""/>
          <p:cNvGraphicFramePr>
            <a:graphicFrameLocks noGrp="1"/>
          </p:cNvGraphicFramePr>
          <p:nvPr/>
        </p:nvGraphicFramePr>
        <p:xfrm>
          <a:off x="238125" y="476250"/>
          <a:ext cx="8667750" cy="5715000"/>
        </p:xfrm>
        <a:graphic>
          <a:graphicData uri="http://schemas.openxmlformats.org/drawingml/2006/table">
            <a:tbl>
              <a:tblPr firstRow="1" bandRow="1"/>
              <a:tblGrid>
                <a:gridCol w="1733550"/>
                <a:gridCol w="1733550"/>
                <a:gridCol w="1733550"/>
                <a:gridCol w="1733550"/>
                <a:gridCol w="1733550"/>
              </a:tblGrid>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FFFFFF">
                              <a:alpha val="100000"/>
                            </a:srgbClr>
                          </a:solidFill>
                          <a:latin typeface="Times New Roman"/>
                        </a:rPr>
                        <a:t><![CDATA[Công đoạn]]></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800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FFFFFF">
                              <a:alpha val="100000"/>
                            </a:srgbClr>
                          </a:solidFill>
                          <a:latin typeface="Times New Roman"/>
                        </a:rPr>
                        <a:t><![CDATA[Tổng số lot kiểm tra]]></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800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FFFFFF">
                              <a:alpha val="100000"/>
                            </a:srgbClr>
                          </a:solidFill>
                          <a:latin typeface="Times New Roman"/>
                        </a:rPr>
                        <a:t><![CDATA[Tổng số lot OK]]></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800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FFFFFF">
                              <a:alpha val="100000"/>
                            </a:srgbClr>
                          </a:solidFill>
                          <a:latin typeface="Times New Roman"/>
                        </a:rPr>
                        <a:t><![CDATA[Tổng số lot NG]]></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800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FFFFFF">
                              <a:alpha val="100000"/>
                            </a:srgbClr>
                          </a:solidFill>
                          <a:latin typeface="Times New Roman"/>
                        </a:rPr>
                        <a:t><![CDATA[Tỷ lệ NG (%)]]></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8000">
                        <a:alpha val="100000"/>
                      </a:srgbClr>
                    </a:solidFill>
                  </a:tcPr>
                </a:tc>
              </a:tr>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Gấp dán]]></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B05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3]]></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3]]></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0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r>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In]]></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B05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0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r>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Ghép đế]]></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B05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0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r>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Bế]]></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B05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1]]></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1]]></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0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r>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Chọn]]></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B05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1]]></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1]]></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0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r>
              <a:tr h="361950">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OQC]]></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solidFill>
                      <a:srgbClr val="00B050">
                        <a:alpha val="100000"/>
                      </a:srgbClr>
                    </a:solid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2]]></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12]]></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c>
                  <a:txBody>
                    <a:bodyPr wrap="square" rtlCol="0">
                      <a:spAutoFit/>
                    </a:bodyPr>
                    <a:lstStyle/>
                    <a:p>
                      <a:pPr algn="ctr" rtl="0" fontAlgn="ctr" marL="0" marR="0" indent="0" lvl="0">
                        <a:lnSpc>
                          <a:spcPct val="100000"/>
                        </a:lnSpc>
                        <a:spcBef>
                          <a:spcPts val="0"/>
                        </a:spcBef>
                        <a:spcAft>
                          <a:spcPts val="0"/>
                        </a:spcAft>
                      </a:pPr>
                      <a:r>
                        <a:rPr lang="en-US" b="1" sz="1000" spc="0" u="none">
                          <a:solidFill>
                            <a:srgbClr val="000000">
                              <a:alpha val="100000"/>
                            </a:srgbClr>
                          </a:solidFill>
                          <a:latin typeface="Times New Roman"/>
                        </a:rPr>
                        <a:t><![CDATA[0.00%]]></a:t>
                      </a:r>
                    </a:p>
                  </a:txBody>
                  <a:tcPr anchor="ctr" marL="0" marR="0" marT="0" marB="0">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lnTlToBr w="12700" cap="flat" cmpd="sng" algn="ctr">
                      <a:noFill/>
                      <a:prstDash val="solid"/>
                      <a:round/>
                      <a:headEnd type="none" w="med" len="med"/>
                      <a:tailEnd type="none" w="med" len="med"/>
                    </a:lnTlToBr>
                    <a:lnBlToTr w="12700" cap="flat" cmpd="sng" algn="ctr">
                      <a:noFill/>
                      <a:prstDash val="solid"/>
                      <a:round/>
                      <a:headEnd type="none" w="med" len="med"/>
                      <a:tailEnd type="none" w="med" len="med"/>
                    </a:lnBlToTr>
                    <a:noFill/>
                  </a:tcPr>
                </a:tc>
              </a:tr>
            </a:tbl>
          </a:graphicData>
        </a:graphic>
      </p:graphicFrame>
      <p:sp>
        <p:nvSpPr>
          <p:cNvPr id="3" name=""/>
          <p:cNvSpPr txBox="1"/>
          <p:nvPr/>
        </p:nvSpPr>
        <p:spPr>
          <a:xfrm>
            <a:off x="381000" y="3810000"/>
            <a:ext cx="8382000" cy="381000"/>
          </a:xfrm>
          <a:prstGeom prst="rect">
            <a:avLst/>
          </a:prstGeom>
          <a:solidFill>
            <a:srgbClr val="00B050">
              <a:alpha val="100000"/>
            </a:srgbClr>
          </a:solidFill>
          <a:ln w="12700" cap="flat" cmpd="sng" algn="ctr">
            <a:solidFill>
              <a:srgbClr val="000000">
                <a:alpha val="100000"/>
              </a:srgbClr>
            </a:solidFill>
            <a:prstDash val="solid"/>
            <a:round/>
            <a:headEnd type="none" w="med" len="med"/>
            <a:tailEnd type="none" w="med" len="med"/>
          </a:ln>
        </p:spPr>
        <p:txBody>
          <a:bodyPr rtlCol="0" bIns="45720" lIns="91440" rIns="91440" tIns="45720">
            <a:spAutoFit/>
          </a:bodyPr>
          <a:lstStyle/>
          <a:p>
            <a:pPr algn="l" rtl="0" fontAlgn="base" marL="0" marR="0" indent="0" lvl="0">
              <a:lnSpc>
                <a:spcPct val="100000"/>
              </a:lnSpc>
              <a:spcBef>
                <a:spcPts val="0"/>
              </a:spcBef>
              <a:spcAft>
                <a:spcPts val="0"/>
              </a:spcAft>
              <a:buClr>
                <a:srgbClr val="FFFFFF">
                  <a:alpha val="100000"/>
                </a:srgbClr>
              </a:buClr>
              <a:buFont typeface="Calibri"/>
              <a:buChar char="-"/>
            </a:pPr>
            <a:r>
              <a:rPr lang="en-US" sz="1000" spc="0" u="none">
                <a:solidFill>
                  <a:srgbClr val="FFFFFF">
                    <a:alpha val="100000"/>
                  </a:srgbClr>
                </a:solidFill>
                <a:latin typeface="Calibri"/>
              </a:rPr>
              <a:t><![CDATA[Số lot kiểm tra là số sản phẩm sản xuất trong tuần (tổng số sản phẩm sản xuất trong ngày của tuần)
Số lot NG là số sản phẩm NG QC phản hồi (tính theo cột lỗi QC bắt đượ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144000" cy="4286250"/>
          <a:chOff x="0" y="0"/>
          <a:chExt cx="9144000" cy="4286250"/>
        </a:xfrm>
      </p:grpSpPr>
      <p:sp>
        <p:nvSpPr>
          <p:cNvPr id="1" name=""/>
          <p:cNvSpPr txBox="1"/>
          <p:nvPr/>
        </p:nvSpPr>
        <p:spPr>
          <a:xfrm>
            <a:off x="0" y="0"/>
            <a:ext cx="9144000" cy="381000"/>
          </a:xfrm>
          <a:prstGeom prst="rect">
            <a:avLst/>
          </a:prstGeom>
          <a:noFill/>
        </p:spPr>
        <p:txBody>
          <a:bodyPr rtlCol="0" bIns="45720" lIns="91440" rIns="91440" tIns="45720">
            <a:spAutoFit/>
          </a:bodyPr>
          <a:lstStyle/>
          <a:p>
            <a:pPr algn="just" rtl="0" fontAlgn="base" marL="0" marR="0" indent="0" lvl="0">
              <a:lnSpc>
                <a:spcPct val="100000"/>
              </a:lnSpc>
              <a:spcBef>
                <a:spcPts val="0"/>
              </a:spcBef>
              <a:spcAft>
                <a:spcPts val="0"/>
              </a:spcAft>
            </a:pPr>
            <a:r>
              <a:rPr lang="en-US" b="1" sz="2200" spc="0" u="none">
                <a:solidFill>
                  <a:srgbClr val="000000">
                    <a:alpha val="100000"/>
                  </a:srgbClr>
                </a:solidFill>
                <a:latin typeface="Times New Roman"/>
              </a:rPr>
              <a:t><![CDATA[I. TỔNG QUAN CHẤT LƯỢNG TUẦN 14]]></a:t>
            </a:r>
          </a:p>
        </p:txBody>
      </p:sp>
      <p:sp>
        <p:nvSpPr>
          <p:cNvPr id="2" name=""/>
          <p:cNvSpPr txBox="1"/>
          <p:nvPr/>
        </p:nvSpPr>
        <p:spPr>
          <a:xfrm>
            <a:off x="0" y="476250"/>
            <a:ext cx="9144000" cy="190500"/>
          </a:xfrm>
          <a:prstGeom prst="rect">
            <a:avLst/>
          </a:prstGeom>
          <a:noFill/>
        </p:spPr>
        <p:txBody>
          <a:bodyPr rtlCol="0" bIns="45720" lIns="91440" rIns="91440" tIns="45720">
            <a:spAutoFit/>
          </a:bodyPr>
          <a:lstStyle/>
          <a:p>
            <a:pPr algn="just" rtl="0" fontAlgn="base" marL="0" marR="0" indent="0" lvl="0">
              <a:lnSpc>
                <a:spcPct val="100000"/>
              </a:lnSpc>
              <a:spcBef>
                <a:spcPts val="0"/>
              </a:spcBef>
              <a:spcAft>
                <a:spcPts val="0"/>
              </a:spcAft>
            </a:pPr>
            <a:r>
              <a:rPr lang="en-US" b="1" sz="1200" spc="0" u="none">
                <a:solidFill>
                  <a:srgbClr val="FF0000">
                    <a:alpha val="100000"/>
                  </a:srgbClr>
                </a:solidFill>
                <a:latin typeface="Times New Roman"/>
              </a:rPr>
              <a:t><![CDATA[1. Chất lượng công đoạn gấp dán]]></a:t>
            </a:r>
          </a:p>
        </p:txBody>
      </p:sp>
      <p:graphicFrame>
        <p:nvGraphicFramePr>
          <p:cNvPr id="3" name="" descr=""/>
          <p:cNvGraphicFramePr/>
          <p:nvPr/>
        </p:nvGraphicFramePr>
        <p:xfrm>
          <a:off x="2381250" y="1428750"/>
          <a:ext cx="4762500" cy="28575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theme/theme1.xml><?xml version="1.0" encoding="utf-8"?>
<a:theme xmlns:a="http://schemas.openxmlformats.org/drawingml/2006/main" name="Theme44">
  <a:themeElements>
    <a:clrScheme name="Theme4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44">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4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Slides>3</Slides>
  <ScaleCrop>false</ScaleCrop>
  <HeadingPairs>
    <vt:vector size="4" baseType="variant">
      <vt:variant>
        <vt:lpstr>Theme</vt:lpstr>
      </vt:variant>
      <vt:variant>
        <vt:i4>1</vt:i4>
      </vt:variant>
      <vt:variant>
        <vt:lpstr>Slide Titles</vt:lpstr>
      </vt:variant>
      <vt:variant>
        <vt:i4>1</vt:i4>
      </vt:variant>
    </vt:vector>
  </HeadingPairs>
  <TitlesOfParts>
    <vt:vector size="1" baseType="lpstr">
      <vt:lpstr>Office Theme</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Unknown Creator</dc:creator>
  <cp:lastModifiedBy>Unknown Creator</cp:lastModifiedBy>
  <dcterms:created xsi:type="dcterms:W3CDTF">2024-07-13T10:57:11Z</dcterms:created>
  <dcterms:modified xsi:type="dcterms:W3CDTF">2024-07-13T10:57:11Z</dcterms:modified>
  <dc:title>Untitled Presentation</dc:title>
  <dc:description/>
  <dc:subject/>
  <cp:keywords/>
  <cp:category/>
</cp:coreProperties>
</file>

<file path=docProps/custom.xml><?xml version="1.0" encoding="utf-8"?>
<Properties xmlns="http://schemas.openxmlformats.org/officeDocument/2006/custom-properties" xmlns:vt="http://schemas.openxmlformats.org/officeDocument/2006/docPropsVTypes"/>
</file>